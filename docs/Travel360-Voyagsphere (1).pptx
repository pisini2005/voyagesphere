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italic r:id="rId19"/>
    </p:embeddedFont>
    <p:embeddedFont>
      <p:font typeface="Roboto Bold" panose="02000000000000000000" charset="0"/>
      <p:regular r:id="rId20"/>
    </p:embeddedFont>
    <p:embeddedFont>
      <p:font typeface="Saira Medium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911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4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3.sv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11" Type="http://schemas.openxmlformats.org/officeDocument/2006/relationships/image" Target="../media/image4.png"/><Relationship Id="rId5" Type="http://schemas.openxmlformats.org/officeDocument/2006/relationships/image" Target="../media/image27.sv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4600"/>
            <a:ext cx="8151763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Travel360 </a:t>
            </a:r>
            <a:r>
              <a:rPr lang="en-US" sz="205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(Voyagsphere)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739825"/>
            <a:ext cx="8151763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An Enterprise-Grade Travel Management Ecosystem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038895"/>
            <a:ext cx="8151763" cy="1189434"/>
          </a:xfrm>
          <a:prstGeom prst="roundRect">
            <a:avLst>
              <a:gd name="adj" fmla="val 7978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5644" y="1048420"/>
            <a:ext cx="4066356" cy="585192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6" name="Text 4"/>
          <p:cNvSpPr/>
          <p:nvPr/>
        </p:nvSpPr>
        <p:spPr>
          <a:xfrm>
            <a:off x="611014" y="1153790"/>
            <a:ext cx="3855616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1014" y="1372195"/>
            <a:ext cx="3855616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Pisini Joel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0" y="1048420"/>
            <a:ext cx="4066356" cy="585192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048420"/>
            <a:ext cx="14288" cy="585192"/>
          </a:xfrm>
          <a:prstGeom prst="roundRect">
            <a:avLst>
              <a:gd name="adj" fmla="val 664165"/>
            </a:avLst>
          </a:prstGeom>
          <a:solidFill>
            <a:srgbClr val="E2691D"/>
          </a:solidFill>
          <a:ln/>
        </p:spPr>
      </p:sp>
      <p:sp>
        <p:nvSpPr>
          <p:cNvPr id="10" name="Text 8"/>
          <p:cNvSpPr/>
          <p:nvPr/>
        </p:nvSpPr>
        <p:spPr>
          <a:xfrm>
            <a:off x="4677370" y="1153790"/>
            <a:ext cx="3855616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77370" y="1372195"/>
            <a:ext cx="3855616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Full-Stack Development Final Year Project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5644" y="1633612"/>
            <a:ext cx="4066356" cy="585192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13" name="Shape 11"/>
          <p:cNvSpPr/>
          <p:nvPr/>
        </p:nvSpPr>
        <p:spPr>
          <a:xfrm>
            <a:off x="505644" y="1633612"/>
            <a:ext cx="4066356" cy="14288"/>
          </a:xfrm>
          <a:prstGeom prst="roundRect">
            <a:avLst>
              <a:gd name="adj" fmla="val 664165"/>
            </a:avLst>
          </a:prstGeom>
          <a:solidFill>
            <a:srgbClr val="E2691D"/>
          </a:solidFill>
          <a:ln/>
        </p:spPr>
      </p:sp>
      <p:sp>
        <p:nvSpPr>
          <p:cNvPr id="14" name="Text 12"/>
          <p:cNvSpPr/>
          <p:nvPr/>
        </p:nvSpPr>
        <p:spPr>
          <a:xfrm>
            <a:off x="611014" y="1738982"/>
            <a:ext cx="3855616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1014" y="1957388"/>
            <a:ext cx="3855616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B2B2C Travel Management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0" y="1633612"/>
            <a:ext cx="4066356" cy="585192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1633612"/>
            <a:ext cx="14288" cy="585192"/>
          </a:xfrm>
          <a:prstGeom prst="roundRect">
            <a:avLst>
              <a:gd name="adj" fmla="val 664165"/>
            </a:avLst>
          </a:prstGeom>
          <a:solidFill>
            <a:srgbClr val="E2691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1633612"/>
            <a:ext cx="4066356" cy="14288"/>
          </a:xfrm>
          <a:prstGeom prst="roundRect">
            <a:avLst>
              <a:gd name="adj" fmla="val 664165"/>
            </a:avLst>
          </a:prstGeom>
          <a:solidFill>
            <a:srgbClr val="E2691D"/>
          </a:solidFill>
          <a:ln/>
        </p:spPr>
      </p:sp>
      <p:sp>
        <p:nvSpPr>
          <p:cNvPr id="19" name="Text 17"/>
          <p:cNvSpPr/>
          <p:nvPr/>
        </p:nvSpPr>
        <p:spPr>
          <a:xfrm>
            <a:off x="4677370" y="1738982"/>
            <a:ext cx="3855616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77370" y="1957388"/>
            <a:ext cx="3855616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Angular · Spring Boot · MySQL</a:t>
            </a:r>
            <a:endParaRPr lang="en-US" sz="8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74" y="2329086"/>
            <a:ext cx="6928991" cy="389751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67519" y="6327353"/>
            <a:ext cx="8608963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8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unified ecosystem bridging travelers, agents, and enterprise operations in a single platform.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AE79DE7-60C6-06CF-B495-E2D85FE06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419" y="6547066"/>
            <a:ext cx="1394581" cy="23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7154"/>
            <a:ext cx="1024235" cy="179115"/>
          </a:xfrm>
          <a:prstGeom prst="roundRect">
            <a:avLst>
              <a:gd name="adj" fmla="val 47371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566812" y="482501"/>
            <a:ext cx="1340048" cy="10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70992"/>
            <a:ext cx="8151763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Problem, Solution </a:t>
            </a:r>
            <a:r>
              <a:rPr lang="en-US" sz="230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&amp; Objectives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96119" y="1318989"/>
            <a:ext cx="3932113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6119" y="1615083"/>
            <a:ext cx="3932113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Travel planning suffers from </a:t>
            </a: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fragmented communication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between customers, travel agents, and service providers — leading to booking errors, delays, and poor customer experience. No single system manages the end-to-end travel lifecycle across all stakeholders simultaneously.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6119" y="2462510"/>
            <a:ext cx="3932113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6119" y="2758604"/>
            <a:ext cx="3932113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Travel360 is a centralized </a:t>
            </a: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B2B2C travel platform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managing the complete travel lifecycle — from search to payment — in a single unified ecosystem. It bridges the gap between self-service convenience and agent-driven personalization.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6119" y="3606031"/>
            <a:ext cx="3932113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Objectives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6119" y="3902125"/>
            <a:ext cx="3932113" cy="12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End-to-end booking management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search, book, invoice, pay in one flow</a:t>
            </a:r>
            <a:endParaRPr lang="en-US" sz="900" dirty="0"/>
          </a:p>
          <a:p>
            <a:pPr marL="182880" indent="-182880" algn="l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Unified customer experience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self-service and agent-assisted channels</a:t>
            </a:r>
            <a:endParaRPr lang="en-US" sz="900" dirty="0"/>
          </a:p>
          <a:p>
            <a:pPr marL="182880" indent="-182880" algn="l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Automated workflows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invoicing, notifications, audit logging</a:t>
            </a:r>
            <a:endParaRPr lang="en-US" sz="900" dirty="0"/>
          </a:p>
          <a:p>
            <a:pPr marL="182880" indent="-182880" algn="l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Enterprise-grade architecture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layered, secure, scalable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35624" y="1207071"/>
            <a:ext cx="4101926" cy="5203701"/>
          </a:xfrm>
          <a:prstGeom prst="roundRect">
            <a:avLst>
              <a:gd name="adj" fmla="val 4137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53421" y="1318989"/>
            <a:ext cx="3866331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Booking Lifecycle</a:t>
            </a:r>
            <a:endParaRPr lang="en-US" sz="11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3421" y="1643807"/>
            <a:ext cx="117797" cy="11779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753421" y="1814959"/>
            <a:ext cx="3866331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5" name="Text 12"/>
          <p:cNvSpPr/>
          <p:nvPr/>
        </p:nvSpPr>
        <p:spPr>
          <a:xfrm>
            <a:off x="4753421" y="1902396"/>
            <a:ext cx="3866331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Search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753421" y="2198489"/>
            <a:ext cx="3866331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availability query across flights, hotels, and transport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3421" y="2597348"/>
            <a:ext cx="117797" cy="117797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53421" y="2768501"/>
            <a:ext cx="3866331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9" name="Text 15"/>
          <p:cNvSpPr/>
          <p:nvPr/>
        </p:nvSpPr>
        <p:spPr>
          <a:xfrm>
            <a:off x="4753421" y="2855937"/>
            <a:ext cx="3866331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Request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753421" y="3152031"/>
            <a:ext cx="3866331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request submitted — self-service or via agent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3421" y="3550890"/>
            <a:ext cx="117797" cy="11779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753421" y="3722043"/>
            <a:ext cx="3866331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3" name="Text 18"/>
          <p:cNvSpPr/>
          <p:nvPr/>
        </p:nvSpPr>
        <p:spPr>
          <a:xfrm>
            <a:off x="4753421" y="3809479"/>
            <a:ext cx="3866331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Booking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753421" y="4105573"/>
            <a:ext cx="3866331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Validation, confirmation, and system lock of reservation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3421" y="4504432"/>
            <a:ext cx="117797" cy="117797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753421" y="4675584"/>
            <a:ext cx="3866331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7" name="Text 21"/>
          <p:cNvSpPr/>
          <p:nvPr/>
        </p:nvSpPr>
        <p:spPr>
          <a:xfrm>
            <a:off x="4753421" y="4763021"/>
            <a:ext cx="3866331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Payment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753421" y="5059114"/>
            <a:ext cx="3866331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Encrypted, JWT-authenticated payment processing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3421" y="5457974"/>
            <a:ext cx="117797" cy="117797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753421" y="5629126"/>
            <a:ext cx="3866331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31" name="Text 24"/>
          <p:cNvSpPr/>
          <p:nvPr/>
        </p:nvSpPr>
        <p:spPr>
          <a:xfrm>
            <a:off x="4753421" y="5716563"/>
            <a:ext cx="3866331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4753421" y="6012656"/>
            <a:ext cx="3866331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log captured, invoice issued, record immutably stored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E9F5035-5C36-C391-4EE0-F0FB0E8A50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9419" y="6560666"/>
            <a:ext cx="1394581" cy="23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4223"/>
            <a:ext cx="785440" cy="150837"/>
          </a:xfrm>
          <a:prstGeom prst="roundRect">
            <a:avLst>
              <a:gd name="adj" fmla="val 47369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555650" y="483989"/>
            <a:ext cx="1123578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ECOSYSTEM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636761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Role-Based Access Control </a:t>
            </a:r>
            <a:r>
              <a:rPr lang="en-US" sz="195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(RBAC)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1065907"/>
            <a:ext cx="81517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Travel360 implements a </a:t>
            </a: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5-role RBAC model</a:t>
            </a: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each with scoped permissions and dedicated UI views, all centered around the Travel360 platform core. Every role interacts exclusively through its authorized interface layer, ensuring data isolation and operational clarity.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662" y="1317616"/>
            <a:ext cx="6521351" cy="366824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5198492"/>
            <a:ext cx="2664321" cy="562942"/>
          </a:xfrm>
          <a:prstGeom prst="roundRect">
            <a:avLst>
              <a:gd name="adj" fmla="val 15865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4838" y="5307211"/>
            <a:ext cx="2446883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4838" y="5509840"/>
            <a:ext cx="244688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Search, book, track — full self-service access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239765" y="5198492"/>
            <a:ext cx="2664396" cy="562942"/>
          </a:xfrm>
          <a:prstGeom prst="roundRect">
            <a:avLst>
              <a:gd name="adj" fmla="val 15865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48484" y="5307211"/>
            <a:ext cx="244695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Travel Agent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48484" y="5509840"/>
            <a:ext cx="24469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Itinerary building, passenger assignment, logistics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983486" y="5198492"/>
            <a:ext cx="2664396" cy="562942"/>
          </a:xfrm>
          <a:prstGeom prst="roundRect">
            <a:avLst>
              <a:gd name="adj" fmla="val 15865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92205" y="5307211"/>
            <a:ext cx="244695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Admin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92205" y="5509840"/>
            <a:ext cx="24469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management: flights, hotels, transport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96119" y="5840760"/>
            <a:ext cx="4036219" cy="562942"/>
          </a:xfrm>
          <a:prstGeom prst="roundRect">
            <a:avLst>
              <a:gd name="adj" fmla="val 15865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4838" y="5949479"/>
            <a:ext cx="3818781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Finance Officer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04838" y="6152108"/>
            <a:ext cx="3818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Invoicing, payment tracking, revenue analytics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611663" y="5840760"/>
            <a:ext cx="4036219" cy="562942"/>
          </a:xfrm>
          <a:prstGeom prst="roundRect">
            <a:avLst>
              <a:gd name="adj" fmla="val 15865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20382" y="5949479"/>
            <a:ext cx="3818781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Compliance Officer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20382" y="6152108"/>
            <a:ext cx="3818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Complaints, audit logs, security monitoring</a:t>
            </a:r>
            <a:endParaRPr lang="en-US" sz="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CC39F8-06BE-80A4-1938-0EBAA144D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599" y="6473990"/>
            <a:ext cx="1394581" cy="331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9347"/>
            <a:ext cx="807765" cy="150837"/>
          </a:xfrm>
          <a:prstGeom prst="roundRect">
            <a:avLst>
              <a:gd name="adj" fmla="val 47369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555650" y="519113"/>
            <a:ext cx="1145902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STACK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671885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Layered Architecture </a:t>
            </a:r>
            <a:r>
              <a:rPr lang="en-US" sz="195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&amp; Technology Stack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618" y="1013669"/>
            <a:ext cx="6521351" cy="366824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858569"/>
            <a:ext cx="4036219" cy="7153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4972050"/>
            <a:ext cx="3752106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66750" y="5174679"/>
            <a:ext cx="37521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Angular</a:t>
            </a: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TypeScript · RxJS · HTML5 · CSS3 — Reactive single-page application with declarative UI components and observable data streams</a:t>
            </a:r>
            <a:endParaRPr lang="en-US" sz="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1663" y="4858569"/>
            <a:ext cx="4036219" cy="7153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82294" y="4972050"/>
            <a:ext cx="3752106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Backend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782294" y="5174679"/>
            <a:ext cx="37521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Java 17</a:t>
            </a: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Spring Boot 3 · Spring Data JPA · Hibernate — Enterprise-grade RESTful API layer with ORM-managed persistence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5653236"/>
            <a:ext cx="4036219" cy="7153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6750" y="5766718"/>
            <a:ext cx="3752106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Security &amp; APIs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666750" y="5969347"/>
            <a:ext cx="37521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Spring Security</a:t>
            </a: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JWT (stateless auth) · Swagger / OpenAPI — Zero-trust authentication model with auto-generated API documentation</a:t>
            </a:r>
            <a:endParaRPr lang="en-US" sz="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1663" y="5653236"/>
            <a:ext cx="4036219" cy="7153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82294" y="5766718"/>
            <a:ext cx="3752106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Infrastructure &amp; Data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4782294" y="5969347"/>
            <a:ext cx="37521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Maven</a:t>
            </a: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MySQL / H2 · Logback logging — Build automation, dual-database support (prod/test), structured application logging</a:t>
            </a:r>
            <a:endParaRPr lang="en-US" sz="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5C8175-0576-415C-7248-E3991B539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8493" y="6505387"/>
            <a:ext cx="1394581" cy="3526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0727"/>
            <a:ext cx="1305744" cy="188565"/>
          </a:xfrm>
          <a:prstGeom prst="roundRect">
            <a:avLst>
              <a:gd name="adj" fmla="val 47365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617934"/>
            <a:ext cx="161411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1885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Dual-Channel Booking </a:t>
            </a:r>
            <a:r>
              <a:rPr lang="en-US" sz="240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39243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Travel360 supports two parallel booking channels, catering to different traveler profiles and complexity levels. Each channel is independently optimized while sharing a common service backbone.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06822" y="1928887"/>
            <a:ext cx="4103191" cy="4348311"/>
          </a:xfrm>
          <a:prstGeom prst="roundRect">
            <a:avLst>
              <a:gd name="adj" fmla="val 4353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796" y="2068413"/>
            <a:ext cx="690414" cy="188565"/>
          </a:xfrm>
          <a:prstGeom prst="roundRect">
            <a:avLst>
              <a:gd name="adj" fmla="val 47365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5210" y="2105620"/>
            <a:ext cx="99878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 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0796" y="2306538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Self-Service Booking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796" y="2624361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Target: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Fast, independent (DIY) travelers seeking immediate confirmation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96" y="3160812"/>
            <a:ext cx="620167" cy="74421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74936" y="3284786"/>
            <a:ext cx="311110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Customer Initiates Search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96" y="3905027"/>
            <a:ext cx="620167" cy="7442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74936" y="4029001"/>
            <a:ext cx="311110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Direct Booking Selection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96" y="4649242"/>
            <a:ext cx="620167" cy="744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74936" y="4773216"/>
            <a:ext cx="311110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Automatic Invoice Generation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96" y="5393457"/>
            <a:ext cx="620167" cy="744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74936" y="5517431"/>
            <a:ext cx="311110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Secure Payment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728046" y="2068413"/>
            <a:ext cx="687512" cy="188565"/>
          </a:xfrm>
          <a:prstGeom prst="roundRect">
            <a:avLst>
              <a:gd name="adj" fmla="val 47365"/>
            </a:avLst>
          </a:prstGeom>
          <a:solidFill>
            <a:srgbClr val="4B1E01"/>
          </a:solidFill>
          <a:ln/>
        </p:spPr>
      </p:sp>
      <p:sp>
        <p:nvSpPr>
          <p:cNvPr id="20" name="Text 14"/>
          <p:cNvSpPr/>
          <p:nvPr/>
        </p:nvSpPr>
        <p:spPr>
          <a:xfrm>
            <a:off x="4802460" y="2105620"/>
            <a:ext cx="99588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 B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4728046" y="230653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Agent-Assisted Booking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28046" y="2624361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Target: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Luxury &amp; customized travel experiences requiring expert curation</a:t>
            </a:r>
            <a:endParaRPr lang="en-US" sz="9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046" y="3160812"/>
            <a:ext cx="620167" cy="74421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72187" y="3284786"/>
            <a:ext cx="31804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Customer Submits Request</a:t>
            </a:r>
            <a:endParaRPr lang="en-US" sz="1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8046" y="3905027"/>
            <a:ext cx="620167" cy="744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72187" y="4029001"/>
            <a:ext cx="31804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Agent Reviews &amp; Builds Itinerary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8046" y="4649242"/>
            <a:ext cx="620167" cy="74421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472187" y="4773216"/>
            <a:ext cx="31804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Passenger Assignment &amp; Logistics</a:t>
            </a:r>
            <a:endParaRPr lang="en-US" sz="12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8046" y="5393457"/>
            <a:ext cx="620167" cy="74421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472187" y="5517431"/>
            <a:ext cx="31804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Customer Approval → Payment</a:t>
            </a:r>
            <a:endParaRPr lang="en-US"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B04026D-0AB4-8D8E-ABFF-32CA6250AA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9419" y="6505386"/>
            <a:ext cx="1394581" cy="3526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05383"/>
            <a:ext cx="1263179" cy="188565"/>
          </a:xfrm>
          <a:prstGeom prst="roundRect">
            <a:avLst>
              <a:gd name="adj" fmla="val 47365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842590"/>
            <a:ext cx="1571551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SELF-SERVICE CHANNEL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4350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Self-Service Flow: </a:t>
            </a:r>
            <a:r>
              <a:rPr lang="en-US" sz="240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Direct Booking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61709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self-service channel leverages Spring Boot microcomponents to deliver a seamless, real-time booking experience with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 agent intervention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Each step maps directly to a named service component in the backend architecture.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93069"/>
            <a:ext cx="3924598" cy="16951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662" y="3528498"/>
            <a:ext cx="582714" cy="10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SearchService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432662" y="3664816"/>
            <a:ext cx="582714" cy="16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availability query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2928920" y="3528498"/>
            <a:ext cx="582714" cy="10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InvoiceService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2928920" y="3664816"/>
            <a:ext cx="582714" cy="16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Auto-generate itemized invoice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686390" y="2446029"/>
            <a:ext cx="582714" cy="10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Customer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86390" y="2582347"/>
            <a:ext cx="582714" cy="16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Angular UI initiates request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3652964" y="2446029"/>
            <a:ext cx="582714" cy="21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Payment Gateway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3652964" y="2688477"/>
            <a:ext cx="582714" cy="16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Encrypted payment processing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2190078" y="2446029"/>
            <a:ext cx="582714" cy="21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BookingController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2190078" y="2688477"/>
            <a:ext cx="582714" cy="16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and process booking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496119" y="4127748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node represents a distinct Spring Boot component. The flow is fully automated — no manual step is required between search and confirmation.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28046" y="2277517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Capabilities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8046" y="2610892"/>
            <a:ext cx="1900312" cy="159141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23458" y="2749153"/>
            <a:ext cx="15666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Real-Time Search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23458" y="3066976"/>
            <a:ext cx="1566639" cy="798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availability across flights, hotels, and transport simultaneously queried via </a:t>
            </a: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SearchService</a:t>
            </a:r>
            <a:endParaRPr lang="en-US" sz="9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2332" y="2610892"/>
            <a:ext cx="1900312" cy="159141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47743" y="2749153"/>
            <a:ext cx="15666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Instant Booking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947743" y="3066976"/>
            <a:ext cx="1566639" cy="9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manual approval required — </a:t>
            </a: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BookingController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validates and confirms in a single transaction</a:t>
            </a:r>
            <a:endParaRPr lang="en-US" sz="9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8046" y="4326285"/>
            <a:ext cx="1900312" cy="158680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23458" y="4464546"/>
            <a:ext cx="15666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 Invoice Generation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923458" y="4976217"/>
            <a:ext cx="1566639" cy="798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InvoiceService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triggered on booking confirmation — itemized by service type, tax, and total</a:t>
            </a:r>
            <a:endParaRPr lang="en-US" sz="9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2332" y="4326285"/>
            <a:ext cx="1900312" cy="158680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47743" y="4464546"/>
            <a:ext cx="15666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Secure Payment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947743" y="4782369"/>
            <a:ext cx="1566639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JWT-authenticated, encrypted transaction processed through the Payment Gateway component</a:t>
            </a:r>
            <a:endParaRPr lang="en-US" sz="9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03C940C-6DE8-8AC2-36FB-FFC4887DDE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419" y="6505386"/>
            <a:ext cx="1394581" cy="3526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08422"/>
            <a:ext cx="1407616" cy="188565"/>
          </a:xfrm>
          <a:prstGeom prst="roundRect">
            <a:avLst>
              <a:gd name="adj" fmla="val 47365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745629"/>
            <a:ext cx="171598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AGENT-ASSISTED CHANNEL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4654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Agent-Assisted Flow: </a:t>
            </a:r>
            <a:r>
              <a:rPr lang="en-US" sz="240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Curated Travel Planning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52013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agent-assisted channel enables personalized, multi-passenger travel planning with full agent oversight and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 approval gates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ensuring quality control before payment is collected.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96108"/>
            <a:ext cx="3924598" cy="16951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662" y="3431536"/>
            <a:ext cx="582714" cy="10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Assign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432662" y="3567855"/>
            <a:ext cx="582714" cy="16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request and assign to agent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2928920" y="3431536"/>
            <a:ext cx="582714" cy="10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Itinerary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2928920" y="3567855"/>
            <a:ext cx="582714" cy="16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builds multi‑leg itinerary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686390" y="2349068"/>
            <a:ext cx="582714" cy="10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Request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86390" y="2485386"/>
            <a:ext cx="582714" cy="16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submits travel preferences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3652964" y="2349068"/>
            <a:ext cx="582714" cy="10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Passenger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3652964" y="2485386"/>
            <a:ext cx="582714" cy="16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 seats, rooms, transport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2190078" y="2349068"/>
            <a:ext cx="582714" cy="10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Review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2190078" y="2485386"/>
            <a:ext cx="582714" cy="16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reviews and contacts suppliers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496119" y="4030787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6 (Customer Approval) acts as a mandatory decision gate — the booking cannot proceed to confirmation without explicit customer sign-off.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28046" y="218055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Distinguishing Features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8046" y="2513930"/>
            <a:ext cx="1900312" cy="17852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23458" y="2652192"/>
            <a:ext cx="15666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Personalized Planning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23458" y="3163863"/>
            <a:ext cx="1566639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tailors every detail — destinations, accommodation class, transport preferences — to individual customer needs</a:t>
            </a:r>
            <a:endParaRPr lang="en-US" sz="9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2332" y="2513930"/>
            <a:ext cx="1900312" cy="17852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47743" y="2652192"/>
            <a:ext cx="15666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Multi-Passenger Management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947743" y="3163863"/>
            <a:ext cx="1566639" cy="9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bookings with individual seat, room, and transport assignments per traveler via </a:t>
            </a: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PassengerService</a:t>
            </a:r>
            <a:endParaRPr lang="en-US" sz="9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8046" y="4423172"/>
            <a:ext cx="1900312" cy="158680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23458" y="4561433"/>
            <a:ext cx="15666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Customized Itineraries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923458" y="5073104"/>
            <a:ext cx="1566639" cy="798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Multi-destination, multi-service packages structured via </a:t>
            </a: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ItineraryService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full leg-by-leg detail</a:t>
            </a:r>
            <a:endParaRPr lang="en-US" sz="9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2332" y="4423172"/>
            <a:ext cx="1900312" cy="158680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47743" y="4561433"/>
            <a:ext cx="15666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Approval Gate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947743" y="4879256"/>
            <a:ext cx="1566639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Mandatory customer sign-off before booking is locked — prevents unauthorized charges and ensures satisfaction</a:t>
            </a:r>
            <a:endParaRPr lang="en-US" sz="9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AE1197E-C441-78AA-3C9E-45AFF56598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419" y="6505386"/>
            <a:ext cx="1394581" cy="3526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93924"/>
            <a:ext cx="1269653" cy="188565"/>
          </a:xfrm>
          <a:prstGeom prst="roundRect">
            <a:avLst>
              <a:gd name="adj" fmla="val 47365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831131"/>
            <a:ext cx="157802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 OPERATIONS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3204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Finance </a:t>
            </a:r>
            <a:r>
              <a:rPr lang="en-US" sz="240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&amp;</a:t>
            </a: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Compliance Modules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745159"/>
            <a:ext cx="977354" cy="188565"/>
          </a:xfrm>
          <a:prstGeom prst="roundRect">
            <a:avLst>
              <a:gd name="adj" fmla="val 47365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0533" y="1782366"/>
            <a:ext cx="128572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FINANCE MODULE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96119" y="1983284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Revenue &amp; Payment Operations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316659"/>
            <a:ext cx="310083" cy="3100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1206" y="2316659"/>
            <a:ext cx="34595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Automated Invoices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1206" y="2634481"/>
            <a:ext cx="34595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Generated on booking confirmation, itemized by service type, taxes, and totals — zero manual input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79428"/>
            <a:ext cx="310083" cy="3100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1206" y="3279428"/>
            <a:ext cx="34595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Payment Tracking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61206" y="3597250"/>
            <a:ext cx="34595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status flags: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Pending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Paid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Overdue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visible to Finance Officers dashboard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242197"/>
            <a:ext cx="310083" cy="3100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1206" y="4242197"/>
            <a:ext cx="34595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Revenue Dashboard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1206" y="4560019"/>
            <a:ext cx="34595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volume, revenue trends, and agent performance analytics in a single operational view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5204966"/>
            <a:ext cx="310083" cy="31008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1206" y="5204966"/>
            <a:ext cx="34595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Booking Analytics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61206" y="5522788"/>
            <a:ext cx="34595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Service-level breakdown, peak period reporting, and conversion funnel visibility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728046" y="1745159"/>
            <a:ext cx="1187202" cy="188565"/>
          </a:xfrm>
          <a:prstGeom prst="roundRect">
            <a:avLst>
              <a:gd name="adj" fmla="val 47365"/>
            </a:avLst>
          </a:prstGeom>
          <a:solidFill>
            <a:srgbClr val="4B1E01"/>
          </a:solidFill>
          <a:ln/>
        </p:spPr>
      </p:sp>
      <p:sp>
        <p:nvSpPr>
          <p:cNvPr id="21" name="Text 15"/>
          <p:cNvSpPr/>
          <p:nvPr/>
        </p:nvSpPr>
        <p:spPr>
          <a:xfrm>
            <a:off x="4802460" y="1782366"/>
            <a:ext cx="1495574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COMPLIANCE MODULE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4728046" y="1983284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Governance &amp; Security Operations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8046" y="2316659"/>
            <a:ext cx="310083" cy="31008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93134" y="2316659"/>
            <a:ext cx="34595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Complaint Management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193134" y="2634481"/>
            <a:ext cx="34595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intake, assignment to Compliance Officer, and resolution tracking with status lifecycle</a:t>
            </a:r>
            <a:endParaRPr lang="en-US" sz="9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8046" y="3279428"/>
            <a:ext cx="310083" cy="31008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93134" y="3279428"/>
            <a:ext cx="34595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193134" y="3597250"/>
            <a:ext cx="345951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AOP-powered </a:t>
            </a: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@Audit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annotation captures all critical actions automatically — non-invasive cross-cutting concern</a:t>
            </a:r>
            <a:endParaRPr lang="en-US" sz="95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8046" y="4246959"/>
            <a:ext cx="310083" cy="31008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93134" y="4246959"/>
            <a:ext cx="34595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Security Monitoring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193134" y="4564782"/>
            <a:ext cx="34595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token activity, failed authentication attempts, and role violation events tracked in real time</a:t>
            </a:r>
            <a:endParaRPr lang="en-US" sz="9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8046" y="5209729"/>
            <a:ext cx="310083" cy="310083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93134" y="5209729"/>
            <a:ext cx="34595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Activity History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5193134" y="5527551"/>
            <a:ext cx="34595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immutable log per user, booking, and transaction — tamper-proof audit trail for regulatory compliance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8F15E29-E9D8-C26D-17D4-54A56CD4E0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9419" y="6505386"/>
            <a:ext cx="1394581" cy="3526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69553"/>
            <a:ext cx="1398315" cy="188565"/>
          </a:xfrm>
          <a:prstGeom prst="roundRect">
            <a:avLst>
              <a:gd name="adj" fmla="val 47365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506760"/>
            <a:ext cx="170668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ENGINEERING EXCELLENCE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0767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Design Patterns </a:t>
            </a:r>
            <a:r>
              <a:rPr lang="en-US" sz="240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&amp; Best Practices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28126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Travel360 is engineered to enterprise standards, applying six foundational software engineering patterns that ensure security, maintainability, and scalability at every layer.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817712"/>
            <a:ext cx="4013895" cy="1442517"/>
          </a:xfrm>
          <a:prstGeom prst="roundRect">
            <a:avLst>
              <a:gd name="adj" fmla="val 773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4380" y="1955974"/>
            <a:ext cx="372070" cy="372070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699" y="2058219"/>
            <a:ext cx="167432" cy="1674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4380" y="2452018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Aspect-Oriented Programming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4380" y="2720280"/>
            <a:ext cx="373737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@Audit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annotation intercepts service calls for automatic, non-invasive audit logging without polluting business logic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33987" y="1817712"/>
            <a:ext cx="4013895" cy="1442517"/>
          </a:xfrm>
          <a:prstGeom prst="roundRect">
            <a:avLst>
              <a:gd name="adj" fmla="val 773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72248" y="1955974"/>
            <a:ext cx="372070" cy="372070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4568" y="2058219"/>
            <a:ext cx="167432" cy="1674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72248" y="2452018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72248" y="2720280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Stateless, token-based security — no server-side session storage; horizontally scalable across distributed deployments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96119" y="3384203"/>
            <a:ext cx="4013895" cy="1442517"/>
          </a:xfrm>
          <a:prstGeom prst="roundRect">
            <a:avLst>
              <a:gd name="adj" fmla="val 773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4380" y="3522464"/>
            <a:ext cx="372070" cy="372070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699" y="3624709"/>
            <a:ext cx="167432" cy="1674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380" y="4018508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DTO Pattern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4380" y="4286771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entity/API separation via Data Transfer Objects — prevents internal model exposure and enforces API contracts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33987" y="3384203"/>
            <a:ext cx="4013895" cy="1442517"/>
          </a:xfrm>
          <a:prstGeom prst="roundRect">
            <a:avLst>
              <a:gd name="adj" fmla="val 773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72248" y="3522464"/>
            <a:ext cx="372070" cy="372070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4568" y="3624709"/>
            <a:ext cx="167432" cy="1674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72248" y="4018508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Global Exception Handling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72248" y="4286771"/>
            <a:ext cx="373737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@ControllerAdvice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centralizes error responses — consistent HTTP status codes and payloads across all endpoints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96119" y="4950693"/>
            <a:ext cx="4013895" cy="1437754"/>
          </a:xfrm>
          <a:prstGeom prst="roundRect">
            <a:avLst>
              <a:gd name="adj" fmla="val 7765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34380" y="5088954"/>
            <a:ext cx="372070" cy="372070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699" y="5191199"/>
            <a:ext cx="167432" cy="1674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34380" y="5584999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Clean REST Architecture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34380" y="5853261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Resource-oriented endpoints, versioned APIs, fully documented via Swagger/OpenAPI auto-generation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633987" y="4950693"/>
            <a:ext cx="4013895" cy="1437754"/>
          </a:xfrm>
          <a:prstGeom prst="roundRect">
            <a:avLst>
              <a:gd name="adj" fmla="val 7765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772248" y="5088954"/>
            <a:ext cx="372070" cy="372070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4568" y="5191199"/>
            <a:ext cx="167432" cy="1674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772248" y="5584999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Layered Architecture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772248" y="5853261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separation: Controller → Service → Repository — each layer independently testable and replaceable</a:t>
            </a:r>
            <a:endParaRPr lang="en-US" sz="9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1E0FE62-D81F-10D0-D9E0-C6E1889893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9419" y="6505386"/>
            <a:ext cx="1394581" cy="3526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67619"/>
            <a:ext cx="1422871" cy="188565"/>
          </a:xfrm>
          <a:prstGeom prst="roundRect">
            <a:avLst>
              <a:gd name="adj" fmla="val 47365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1104826"/>
            <a:ext cx="173124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ENGINEERING CHALLENGES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30574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Challenges </a:t>
            </a:r>
            <a:r>
              <a:rPr lang="en-US" sz="240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&amp; Solutions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87932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significant technical challenges were encountered and resolved during development, each informing a deliberate architectural decision that strengthened the overall system design.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415778"/>
            <a:ext cx="8151763" cy="3374529"/>
          </a:xfrm>
          <a:prstGeom prst="roundRect">
            <a:avLst>
              <a:gd name="adj" fmla="val 330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6119" y="2779737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538240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4103043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4663083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5227886"/>
            <a:ext cx="8151763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0955" y="2420541"/>
            <a:ext cx="651346" cy="359197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3" name="Text 11"/>
          <p:cNvSpPr/>
          <p:nvPr/>
        </p:nvSpPr>
        <p:spPr>
          <a:xfrm>
            <a:off x="624929" y="2499717"/>
            <a:ext cx="8605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#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52302" y="2420541"/>
            <a:ext cx="3419698" cy="359197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5" name="Text 13"/>
          <p:cNvSpPr/>
          <p:nvPr/>
        </p:nvSpPr>
        <p:spPr>
          <a:xfrm>
            <a:off x="1276276" y="2499717"/>
            <a:ext cx="362895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Challenge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2420541"/>
            <a:ext cx="4071119" cy="359197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7" name="Text 15"/>
          <p:cNvSpPr/>
          <p:nvPr/>
        </p:nvSpPr>
        <p:spPr>
          <a:xfrm>
            <a:off x="4695974" y="2499717"/>
            <a:ext cx="42803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Solution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4929" y="2861295"/>
            <a:ext cx="8605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76276" y="2861295"/>
            <a:ext cx="3171751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Complex entity relationships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Booking 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Itinerary 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Passenger 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Invoice interdependencies causing mapping complexity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95974" y="2861295"/>
            <a:ext cx="38231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Normalized relational database schema +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MapStruct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object mapping for clean, type-safe DTO conversion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4929" y="3619798"/>
            <a:ext cx="8605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76276" y="3619798"/>
            <a:ext cx="317175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Role-based authorization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5 distinct user types with different access scopes and UI states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95974" y="3619798"/>
            <a:ext cx="382317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Spring Security with </a:t>
            </a: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annotations + Angular Route Guards for dual-layer frontend enforcement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4929" y="4184600"/>
            <a:ext cx="8605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76276" y="4184600"/>
            <a:ext cx="317175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Dual booking channel logic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two distinct flows without code duplication or maintenance burden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95974" y="4184600"/>
            <a:ext cx="38231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service layer with channel-specific controllers;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Strategy Pattern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booking flow selection at runtime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4929" y="4744641"/>
            <a:ext cx="8605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76276" y="4744641"/>
            <a:ext cx="317175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Audit trail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requirement without polluting business logic across dozens of service methods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95974" y="4744641"/>
            <a:ext cx="382317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AOP-based </a:t>
            </a: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@Audit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interceptor — cross-cutting concern handled transparently, zero business logic modification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4929" y="5309443"/>
            <a:ext cx="8605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276276" y="5309443"/>
            <a:ext cx="317175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API security and documentation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maintaining secure, well-documented endpoints across all roles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95974" y="5309443"/>
            <a:ext cx="38231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stateless authentication + Swagger/OpenAPI auto-generated docs, always in sync with controller definitions</a:t>
            </a:r>
            <a:endParaRPr lang="en-US" sz="9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CA62DD1-C316-F90B-379D-4DE8EE808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419" y="6505386"/>
            <a:ext cx="1394581" cy="3526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4109"/>
            <a:ext cx="906066" cy="169664"/>
          </a:xfrm>
          <a:prstGeom prst="roundRect">
            <a:avLst>
              <a:gd name="adj" fmla="val 47377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563091" y="527596"/>
            <a:ext cx="1229320" cy="102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703957"/>
            <a:ext cx="815176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Travel360 </a:t>
            </a:r>
            <a:r>
              <a:rPr lang="en-US" sz="2150" dirty="0">
                <a:solidFill>
                  <a:srgbClr val="FC8337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Evolution Roadmap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496119" y="2563341"/>
            <a:ext cx="8151763" cy="14288"/>
          </a:xfrm>
          <a:prstGeom prst="roundRect">
            <a:avLst>
              <a:gd name="adj" fmla="val 703231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05657" y="2228515"/>
            <a:ext cx="14288" cy="334863"/>
          </a:xfrm>
          <a:prstGeom prst="roundRect">
            <a:avLst>
              <a:gd name="adj" fmla="val 703231"/>
            </a:avLst>
          </a:prstGeom>
          <a:solidFill>
            <a:srgbClr val="FC8337"/>
          </a:solidFill>
          <a:ln/>
        </p:spPr>
      </p:sp>
      <p:sp>
        <p:nvSpPr>
          <p:cNvPr id="7" name="Shape 5"/>
          <p:cNvSpPr/>
          <p:nvPr/>
        </p:nvSpPr>
        <p:spPr>
          <a:xfrm>
            <a:off x="1687264" y="2437767"/>
            <a:ext cx="251147" cy="251147"/>
          </a:xfrm>
          <a:prstGeom prst="roundRect">
            <a:avLst>
              <a:gd name="adj" fmla="val 40008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29085" y="2458641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7740" y="1203499"/>
            <a:ext cx="241027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Phase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7740" y="1438126"/>
            <a:ext cx="2410271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Real-Time Updates</a:t>
            </a:r>
            <a:endParaRPr lang="en-US" sz="850" dirty="0"/>
          </a:p>
          <a:p>
            <a:pPr marL="0" indent="0" algn="ctr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WebSockets integration for live booking status, agent notifications, and payment confirmations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85145" y="2563304"/>
            <a:ext cx="14288" cy="334863"/>
          </a:xfrm>
          <a:prstGeom prst="roundRect">
            <a:avLst>
              <a:gd name="adj" fmla="val 703231"/>
            </a:avLst>
          </a:prstGeom>
          <a:solidFill>
            <a:srgbClr val="FC8337"/>
          </a:solidFill>
          <a:ln/>
        </p:spPr>
      </p:sp>
      <p:sp>
        <p:nvSpPr>
          <p:cNvPr id="12" name="Shape 10"/>
          <p:cNvSpPr/>
          <p:nvPr/>
        </p:nvSpPr>
        <p:spPr>
          <a:xfrm>
            <a:off x="3066752" y="2437767"/>
            <a:ext cx="251147" cy="251147"/>
          </a:xfrm>
          <a:prstGeom prst="roundRect">
            <a:avLst>
              <a:gd name="adj" fmla="val 40008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573" y="2458641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87228" y="3009900"/>
            <a:ext cx="2410346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Phase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87228" y="3244528"/>
            <a:ext cx="2410346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Recommendations</a:t>
            </a:r>
            <a:endParaRPr lang="en-US" sz="850" dirty="0"/>
          </a:p>
          <a:p>
            <a:pPr marL="0" indent="0" algn="ctr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ML-powered travel suggestions based on user history, preferences, and seasonal trends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64707" y="2228515"/>
            <a:ext cx="14288" cy="334863"/>
          </a:xfrm>
          <a:prstGeom prst="roundRect">
            <a:avLst>
              <a:gd name="adj" fmla="val 703231"/>
            </a:avLst>
          </a:prstGeom>
          <a:solidFill>
            <a:srgbClr val="FC8337"/>
          </a:solidFill>
          <a:ln/>
        </p:spPr>
      </p:sp>
      <p:sp>
        <p:nvSpPr>
          <p:cNvPr id="17" name="Shape 15"/>
          <p:cNvSpPr/>
          <p:nvPr/>
        </p:nvSpPr>
        <p:spPr>
          <a:xfrm>
            <a:off x="4446315" y="2437767"/>
            <a:ext cx="251147" cy="251147"/>
          </a:xfrm>
          <a:prstGeom prst="roundRect">
            <a:avLst>
              <a:gd name="adj" fmla="val 40008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8135" y="2458641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66790" y="1203499"/>
            <a:ext cx="2410346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Phase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66790" y="1438126"/>
            <a:ext cx="2410346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Microservices Migration</a:t>
            </a:r>
            <a:endParaRPr lang="en-US" sz="850" dirty="0"/>
          </a:p>
          <a:p>
            <a:pPr marL="0" indent="0" algn="ctr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Decompose monolith into independently deployable services: Booking, Payment, Notification, Compliance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4270" y="2563304"/>
            <a:ext cx="14288" cy="334863"/>
          </a:xfrm>
          <a:prstGeom prst="roundRect">
            <a:avLst>
              <a:gd name="adj" fmla="val 703231"/>
            </a:avLst>
          </a:prstGeom>
          <a:solidFill>
            <a:srgbClr val="FC8337"/>
          </a:solidFill>
          <a:ln/>
        </p:spPr>
      </p:sp>
      <p:sp>
        <p:nvSpPr>
          <p:cNvPr id="22" name="Shape 20"/>
          <p:cNvSpPr/>
          <p:nvPr/>
        </p:nvSpPr>
        <p:spPr>
          <a:xfrm>
            <a:off x="5825877" y="2437767"/>
            <a:ext cx="251147" cy="251147"/>
          </a:xfrm>
          <a:prstGeom prst="roundRect">
            <a:avLst>
              <a:gd name="adj" fmla="val 40008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7698" y="2458641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46352" y="3009900"/>
            <a:ext cx="2410346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Phase 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46352" y="3244528"/>
            <a:ext cx="2410346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Cloud Deployment</a:t>
            </a:r>
            <a:endParaRPr lang="en-US" sz="850" dirty="0"/>
          </a:p>
          <a:p>
            <a:pPr marL="0" indent="0" algn="ctr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Containerization with Docker + orchestration via Kubernetes; full CI/CD pipeline integration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23832" y="2228515"/>
            <a:ext cx="14288" cy="334863"/>
          </a:xfrm>
          <a:prstGeom prst="roundRect">
            <a:avLst>
              <a:gd name="adj" fmla="val 703231"/>
            </a:avLst>
          </a:prstGeom>
          <a:solidFill>
            <a:srgbClr val="FC8337"/>
          </a:solidFill>
          <a:ln/>
        </p:spPr>
      </p:sp>
      <p:sp>
        <p:nvSpPr>
          <p:cNvPr id="27" name="Shape 25"/>
          <p:cNvSpPr/>
          <p:nvPr/>
        </p:nvSpPr>
        <p:spPr>
          <a:xfrm>
            <a:off x="7205439" y="2437767"/>
            <a:ext cx="251147" cy="251147"/>
          </a:xfrm>
          <a:prstGeom prst="roundRect">
            <a:avLst>
              <a:gd name="adj" fmla="val 40008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7260" y="2458641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5914" y="1203499"/>
            <a:ext cx="2410346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Phase 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5914" y="1438126"/>
            <a:ext cx="2410346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Third-Party Integrations</a:t>
            </a:r>
            <a:endParaRPr lang="en-US" sz="850" dirty="0"/>
          </a:p>
          <a:p>
            <a:pPr marL="0" indent="0" algn="ctr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Airline APIs, Hotel APIs (Amadeus, Booking.com), Payment Gateways (Stripe, PayPal)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6119" y="3894460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6119" y="4150147"/>
            <a:ext cx="3939704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Was Built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6119" y="4437534"/>
            <a:ext cx="1919585" cy="856431"/>
          </a:xfrm>
          <a:prstGeom prst="roundRect">
            <a:avLst>
              <a:gd name="adj" fmla="val 11732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65" y="4558680"/>
            <a:ext cx="1677293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5-Role RBAC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7265" y="4833491"/>
            <a:ext cx="1677293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Scoped access across all user types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16163" y="4437534"/>
            <a:ext cx="1919660" cy="856431"/>
          </a:xfrm>
          <a:prstGeom prst="roundRect">
            <a:avLst>
              <a:gd name="adj" fmla="val 11732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37309" y="4558680"/>
            <a:ext cx="167736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Dual Channels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637309" y="4833491"/>
            <a:ext cx="1677367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Self-service + agent-assisted flows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6119" y="5394424"/>
            <a:ext cx="1919585" cy="856431"/>
          </a:xfrm>
          <a:prstGeom prst="roundRect">
            <a:avLst>
              <a:gd name="adj" fmla="val 11732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65" y="5515570"/>
            <a:ext cx="1677293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Finance &amp; Compliance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65" y="5790381"/>
            <a:ext cx="167729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invoicing + audit trail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16163" y="5394424"/>
            <a:ext cx="1919660" cy="856431"/>
          </a:xfrm>
          <a:prstGeom prst="roundRect">
            <a:avLst>
              <a:gd name="adj" fmla="val 11732"/>
            </a:avLst>
          </a:prstGeom>
          <a:solidFill>
            <a:srgbClr val="030303"/>
          </a:solidFill>
          <a:ln w="9525">
            <a:solidFill>
              <a:srgbClr val="FC83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37309" y="5515570"/>
            <a:ext cx="167736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Enterprise Patterns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637309" y="5790381"/>
            <a:ext cx="1677367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AOP, JWT, DTO, REST, Layered Architecture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12940" y="4162723"/>
            <a:ext cx="14288" cy="1144265"/>
          </a:xfrm>
          <a:prstGeom prst="roundRect">
            <a:avLst>
              <a:gd name="adj" fmla="val 59998"/>
            </a:avLst>
          </a:prstGeom>
          <a:solidFill>
            <a:srgbClr val="FC8337"/>
          </a:solidFill>
          <a:ln/>
        </p:spPr>
      </p:sp>
      <p:sp>
        <p:nvSpPr>
          <p:cNvPr id="46" name="Text 44"/>
          <p:cNvSpPr/>
          <p:nvPr/>
        </p:nvSpPr>
        <p:spPr>
          <a:xfrm>
            <a:off x="4880372" y="4263182"/>
            <a:ext cx="3772272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80372" y="4537993"/>
            <a:ext cx="3772272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 </a:t>
            </a:r>
            <a:r>
              <a:rPr lang="en-US" sz="8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Pisini Joel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10CA04D-BD88-A465-77EF-42BCA73EA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419" y="6505386"/>
            <a:ext cx="1394581" cy="352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1442</Words>
  <Application>Microsoft Office PowerPoint</Application>
  <PresentationFormat>On-screen Show (4:3)</PresentationFormat>
  <Paragraphs>221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Roboto Bold</vt:lpstr>
      <vt:lpstr>Consolas</vt:lpstr>
      <vt:lpstr>Arial</vt:lpstr>
      <vt:lpstr>Roboto</vt:lpstr>
      <vt:lpstr>Saira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Joel Pisini</cp:lastModifiedBy>
  <cp:revision>2</cp:revision>
  <dcterms:created xsi:type="dcterms:W3CDTF">2026-07-24T02:08:49Z</dcterms:created>
  <dcterms:modified xsi:type="dcterms:W3CDTF">2026-07-24T02:55:10Z</dcterms:modified>
</cp:coreProperties>
</file>